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89999" y="-1523999"/>
            <a:ext cx="5333999" cy="5334000"/>
          </a:xfrm>
          <a:prstGeom prst="ellipse">
            <a:avLst/>
          </a:prstGeom>
          <a:noFill/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32999" y="-761999"/>
            <a:ext cx="3809999" cy="3809999"/>
          </a:xfrm>
          <a:prstGeom prst="ellipse">
            <a:avLst/>
          </a:prstGeom>
          <a:noFill/>
          <a:ln w="25400">
            <a:solidFill>
              <a:srgbClr val="E8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799" y="2133599"/>
            <a:ext cx="888999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A94B"/>
                </a:solidFill>
                <a:latin typeface="Aptos"/>
              </a:rPr>
              <a:t>LECTURE 03  ·  DESCRIPTIVE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799" y="2540000"/>
            <a:ext cx="10159999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Basic Statistical Description
and Central Tendency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58799" y="4190999"/>
            <a:ext cx="1650999" cy="508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4445000"/>
            <a:ext cx="96519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C7D3E8"/>
                </a:solidFill>
                <a:latin typeface="Aptos"/>
              </a:rPr>
              <a:t>Frequency distributions, mean, median and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8799" y="5588000"/>
            <a:ext cx="177799" cy="1777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199" y="5588000"/>
            <a:ext cx="177799" cy="1777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7599" y="5588000"/>
            <a:ext cx="177799" cy="177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799" y="6413500"/>
            <a:ext cx="7873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FA3C4"/>
                </a:solidFill>
                <a:latin typeface="Aptos"/>
              </a:rPr>
              <a:t>Lecture notes · Slide set 2 · 10-student course-load dataset throughout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7199" y="6413500"/>
            <a:ext cx="1015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FA3C4"/>
                </a:solidFill>
                <a:latin typeface="Aptos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473199"/>
            <a:ext cx="5410199" cy="9144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473199"/>
            <a:ext cx="76199" cy="9144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7399" y="17399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399" y="17399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199" y="1574800"/>
            <a:ext cx="4394199" cy="711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Construct and read a frequency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999" y="1473199"/>
            <a:ext cx="5410199" cy="9144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999" y="1473199"/>
            <a:ext cx="76199" cy="9144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1599" y="17399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599" y="17399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399" y="1574800"/>
            <a:ext cx="4394199" cy="711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Calculate the mean, median and mode.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799" y="2641600"/>
            <a:ext cx="5410199" cy="9144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799" y="2641600"/>
            <a:ext cx="76199" cy="9144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7399" y="29083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399" y="29083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6199" y="2743200"/>
            <a:ext cx="4394199" cy="711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Explain what each measure tells us about the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2999" y="2641600"/>
            <a:ext cx="5410199" cy="9144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2999" y="2641600"/>
            <a:ext cx="76199" cy="9144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599" y="29083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599" y="29083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399" y="2743200"/>
            <a:ext cx="4394199" cy="711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Select an appropriate measure for a given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What is a statistical description?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799" y="1270000"/>
            <a:ext cx="110743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6324B"/>
                </a:solidFill>
                <a:latin typeface="Aptos"/>
              </a:rPr>
              <a:t>A statistical description summarises important features of a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799" y="1904999"/>
            <a:ext cx="5410199" cy="1016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799" y="1904999"/>
            <a:ext cx="76199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7399" y="22225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399" y="22225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199" y="2006599"/>
            <a:ext cx="4394199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6324B"/>
                </a:solidFill>
                <a:latin typeface="Aptos"/>
              </a:rPr>
              <a:t>How many observations are there?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999" y="1904999"/>
            <a:ext cx="5410199" cy="1016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999" y="1904999"/>
            <a:ext cx="76199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1599" y="22225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599" y="22225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399" y="2006599"/>
            <a:ext cx="4394199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6324B"/>
                </a:solidFill>
                <a:latin typeface="Aptos"/>
              </a:rPr>
              <a:t>Which values occur most often?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799" y="3174999"/>
            <a:ext cx="5410199" cy="1016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8799" y="3174999"/>
            <a:ext cx="76199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7399" y="34925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399" y="34925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199" y="3276599"/>
            <a:ext cx="4394199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6324B"/>
                </a:solidFill>
                <a:latin typeface="Aptos"/>
              </a:rPr>
              <a:t>What is a typical value?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999" y="3174999"/>
            <a:ext cx="5410199" cy="1016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999" y="3174999"/>
            <a:ext cx="76199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1599" y="34925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1599" y="34925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399" y="3276599"/>
            <a:ext cx="4394199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6324B"/>
                </a:solidFill>
                <a:latin typeface="Aptos"/>
              </a:rPr>
              <a:t>Are any values unusually high or low?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THE RUNNING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Our example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799" y="1270000"/>
            <a:ext cx="54609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9" b="1">
                <a:solidFill>
                  <a:srgbClr val="26324B"/>
                </a:solidFill>
                <a:latin typeface="Aptos"/>
              </a:rPr>
              <a:t>Question: how many courses did each student take?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8799" y="1676400"/>
          <a:ext cx="546098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59"/>
                <a:gridCol w="458723"/>
                <a:gridCol w="458723"/>
                <a:gridCol w="458723"/>
                <a:gridCol w="458723"/>
                <a:gridCol w="458723"/>
                <a:gridCol w="458723"/>
                <a:gridCol w="458723"/>
                <a:gridCol w="458723"/>
                <a:gridCol w="458723"/>
                <a:gridCol w="458723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Courses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>
                    <a:solidFill>
                      <a:srgbClr val="FDEBD3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58799" y="3276599"/>
            <a:ext cx="5460999" cy="1523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8799" y="3276599"/>
            <a:ext cx="76199" cy="1523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199" y="3429000"/>
            <a:ext cx="49783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26324B"/>
                </a:solidFill>
                <a:latin typeface="Aptos"/>
              </a:rPr>
              <a:t>Each observation belongs to one student. The attribute is number of courses — discrete numerical data.
Most students took 1–5 courses, but one record says 13. We keep it for now; in a real analysis we would verify it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3799" y="1270000"/>
            <a:ext cx="5359399" cy="3809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799" y="1422399"/>
            <a:ext cx="48513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1">
                <a:solidFill>
                  <a:srgbClr val="16233F"/>
                </a:solidFill>
                <a:latin typeface="Aptos"/>
              </a:rPr>
              <a:t>Dot plot — one dot per student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03999" y="4406899"/>
            <a:ext cx="4648200" cy="25401"/>
          </a:xfrm>
          <a:prstGeom prst="line">
            <a:avLst/>
          </a:prstGeom>
          <a:ln w="19050">
            <a:solidFill>
              <a:srgbClr val="5A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18299" y="41782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61199" y="41782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61199" y="38988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04099" y="41782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4099" y="38988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4099" y="36194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46999" y="41782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46999" y="38988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89899" y="4178299"/>
            <a:ext cx="177799" cy="1777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33099" y="4178299"/>
            <a:ext cx="177799" cy="1777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3999" y="4495799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6899" y="4495799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9799" y="4495799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2699" y="4495799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5599" y="4495799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8799" y="4495799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7799" y="4749799"/>
            <a:ext cx="4851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9" b="0">
                <a:solidFill>
                  <a:srgbClr val="5A6B85"/>
                </a:solidFill>
                <a:latin typeface="Aptos"/>
              </a:rPr>
              <a:t>The isolated dot at 13 stands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COUNTING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208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208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422399"/>
            <a:ext cx="105409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Frequency is the number of times a value occurs. Count how many observations have that value — it answers “how many?”, not yet what proportion of the class that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799" y="2540000"/>
            <a:ext cx="345439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8799" y="2540000"/>
            <a:ext cx="76199" cy="1143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599" y="2717799"/>
            <a:ext cx="284479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Value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599" y="3073399"/>
            <a:ext cx="284479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5A6B85"/>
                </a:solidFill>
                <a:latin typeface="Aptos"/>
              </a:rPr>
              <a:t>occurs 2 times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8799" y="2540000"/>
            <a:ext cx="345439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8799" y="2540000"/>
            <a:ext cx="76199" cy="1143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3599" y="2717799"/>
            <a:ext cx="284479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Value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599" y="3073399"/>
            <a:ext cx="284479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5A6B85"/>
                </a:solidFill>
                <a:latin typeface="Aptos"/>
              </a:rPr>
              <a:t>occurs 3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8799" y="2540000"/>
            <a:ext cx="345439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8799" y="2540000"/>
            <a:ext cx="76199" cy="1143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3599" y="2717799"/>
            <a:ext cx="284479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Value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3599" y="3073399"/>
            <a:ext cx="284479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5A6B85"/>
                </a:solidFill>
                <a:latin typeface="Aptos"/>
              </a:rPr>
              <a:t>occurs 1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799" y="4064000"/>
            <a:ext cx="11074399" cy="889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99" y="4190999"/>
            <a:ext cx="10540999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Frequency table next: list every distinct value with its count — the most common value becomes much easier to spot than in the raw 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COUNTING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Frequency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06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8799" y="1473199"/>
          <a:ext cx="5333998" cy="380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699"/>
                <a:gridCol w="2400299"/>
              </a:tblGrid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Number of courses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Frequency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4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49999" y="1650999"/>
            <a:ext cx="5283199" cy="1523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9999" y="1650999"/>
            <a:ext cx="76199" cy="1523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4799" y="1803400"/>
            <a:ext cx="4698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Check: the frequencies add to the number of observations.
1 + 2 + 3 + 2 + 1 + 1 =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9999" y="3556000"/>
            <a:ext cx="5283199" cy="1523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9999" y="3556000"/>
            <a:ext cx="76199" cy="1523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4799" y="3708400"/>
            <a:ext cx="4698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A frequency distribution lists each distinct value and its count — the most common value (3, with three students) is now far easier to see than in the raw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COUNTING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Relative 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07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20800"/>
            <a:ext cx="11074399" cy="8382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20800"/>
            <a:ext cx="76199" cy="8382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422399"/>
            <a:ext cx="10540999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Relative frequency = frequency of a value ÷ total observations. A percentage helps compare groups of different sizes — always state the denominator.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799" y="2489199"/>
            <a:ext cx="68579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99" y="2667000"/>
            <a:ext cx="6349999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Example — students who took 3 courses:
3 / 10 = 0.30 = 30%
Reported as a count of 3 or as 30% of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46999" y="2489199"/>
            <a:ext cx="38861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46999" y="2489199"/>
            <a:ext cx="76199" cy="1904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6399" y="2667000"/>
            <a:ext cx="3327399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26324B"/>
                </a:solidFill>
                <a:latin typeface="Aptos"/>
              </a:rPr>
              <a:t>Denominator here:
10 students
Never let the base of a percentage stay implicit.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COUNTING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Displaying a frequency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08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4199" y="1346200"/>
            <a:ext cx="4698999" cy="21335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3599" y="1498600"/>
            <a:ext cx="41401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Reading the chartHorizontal axis: number of coursesVertical axis: number of studentsBar height: frequencyThe bar above 3 has height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4199" y="3759199"/>
            <a:ext cx="4698999" cy="1523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34199" y="3759199"/>
            <a:ext cx="76199" cy="1523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3599" y="3911600"/>
            <a:ext cx="41401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Notice the isolated bar at 13 — with few distinct values, separate bars are easy to read, and most observations cluster at the lower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What is central tendency?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09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799" y="1270000"/>
            <a:ext cx="110743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6324B"/>
                </a:solidFill>
                <a:latin typeface="Aptos"/>
              </a:rPr>
              <a:t>A measure of central tendency describes a central or typical value — three common measures: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799" y="2032000"/>
            <a:ext cx="3454399" cy="215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799" y="2032000"/>
            <a:ext cx="76199" cy="2159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599" y="2336800"/>
            <a:ext cx="507999" cy="762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599" y="2565400"/>
            <a:ext cx="2844799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33F"/>
                </a:solidFill>
                <a:latin typeface="Aptos"/>
              </a:rPr>
              <a:t>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599" y="3098800"/>
            <a:ext cx="28447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Arithmetic average — uses every numerical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799" y="2032000"/>
            <a:ext cx="3454399" cy="215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799" y="2032000"/>
            <a:ext cx="76199" cy="2159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73599" y="2336800"/>
            <a:ext cx="507999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3599" y="2565400"/>
            <a:ext cx="2844799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33F"/>
                </a:solidFill>
                <a:latin typeface="Aptos"/>
              </a:rPr>
              <a:t>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599" y="3098800"/>
            <a:ext cx="28447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Middle value — uses position after sorting.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8799" y="2032000"/>
            <a:ext cx="3454399" cy="215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8799" y="2032000"/>
            <a:ext cx="76199" cy="2159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83599" y="2336800"/>
            <a:ext cx="507999" cy="762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3599" y="2565400"/>
            <a:ext cx="2844799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33F"/>
                </a:solidFill>
                <a:latin typeface="Aptos"/>
              </a:rPr>
              <a:t>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3599" y="3098800"/>
            <a:ext cx="28447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Most frequent value — what occurs most often.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8799" y="4572000"/>
            <a:ext cx="11074399" cy="889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799" y="4572000"/>
            <a:ext cx="76199" cy="889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99" y="4673600"/>
            <a:ext cx="105409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They approach “typical” in different ways — and they can give different answers for the same dataset. Next: compute all three on our example.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Calculating the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10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20800"/>
            <a:ext cx="11074399" cy="761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20800"/>
            <a:ext cx="76199" cy="761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397000"/>
            <a:ext cx="105409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Mean = sum of all values ÷ number of values. Every observation contributes — including the student recorded as taking 13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799" y="2413000"/>
            <a:ext cx="71119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99" y="2565400"/>
            <a:ext cx="6603999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For our 10 students:
x̄ = (1+2+2+3+3+3+4+4+5+13) / 10 = 40 / 10 = 4
The mean number of courses is 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999" y="2413000"/>
            <a:ext cx="36321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0999" y="2413000"/>
            <a:ext cx="76199" cy="1904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4999" y="2540000"/>
            <a:ext cx="3124199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26324B"/>
                </a:solidFill>
                <a:latin typeface="Aptos"/>
              </a:rPr>
              <a:t>Class question
Does a mean of 4 mean every student took 4 courses?
No — it summarises the dataset; individual values differ.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799" y="46482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99" y="4724399"/>
            <a:ext cx="10540999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9" b="0">
                <a:solidFill>
                  <a:srgbClr val="5A6B85"/>
                </a:solidFill>
                <a:latin typeface="Aptos"/>
              </a:rPr>
              <a:t>Watch what happens to this mean when one value is extreme — compare with the median on the next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Mean using a frequency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11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8799" y="1422399"/>
          <a:ext cx="5333997" cy="419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59"/>
                <a:gridCol w="1760219"/>
                <a:gridCol w="1760219"/>
              </a:tblGrid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Courses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Frequency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fx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8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49999" y="1523999"/>
            <a:ext cx="5283199" cy="127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9999" y="1523999"/>
            <a:ext cx="76199" cy="1270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4799" y="1650999"/>
            <a:ext cx="4698999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When values repeat, multiply each value by its frequency:
x̄ = Σfx ÷ Σf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9999" y="3098800"/>
            <a:ext cx="52831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9999" y="3098800"/>
            <a:ext cx="76199" cy="1904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4799" y="3251200"/>
            <a:ext cx="4698999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Two students took 2 courses → contributes 2 × 2 = 4 to the sum.
Denominator = total frequency = 10 students (not the 6 distinct values!).
x̄ = 40 / 10 = 4 — same mean, calculated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MEDIAN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What is the median?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20800"/>
            <a:ext cx="11074399" cy="7111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20800"/>
            <a:ext cx="76199" cy="7111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397000"/>
            <a:ext cx="10540999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The median is the middle value after sorting the observations. Always sort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9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9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03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03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03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7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7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131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131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31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4599" y="2489199"/>
            <a:ext cx="711199" cy="660400"/>
          </a:xfrm>
          <a:prstGeom prst="roundRect">
            <a:avLst/>
          </a:prstGeom>
          <a:solidFill>
            <a:srgbClr val="FDEBD3"/>
          </a:solidFill>
          <a:ln w="25400">
            <a:solidFill>
              <a:srgbClr val="E8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45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871E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45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8871E"/>
                </a:solidFill>
                <a:latin typeface="Aptos"/>
              </a:rPr>
              <a:t>5th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999" y="2489199"/>
            <a:ext cx="711199" cy="660400"/>
          </a:xfrm>
          <a:prstGeom prst="roundRect">
            <a:avLst/>
          </a:prstGeom>
          <a:solidFill>
            <a:srgbClr val="FDEBD3"/>
          </a:solidFill>
          <a:ln w="25400">
            <a:solidFill>
              <a:srgbClr val="E8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59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871E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9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8871E"/>
                </a:solidFill>
                <a:latin typeface="Aptos"/>
              </a:rPr>
              <a:t>6th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73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73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73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87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87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87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01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01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1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61599" y="2489199"/>
            <a:ext cx="711199" cy="660400"/>
          </a:xfrm>
          <a:prstGeom prst="roundRect">
            <a:avLst/>
          </a:prstGeom>
          <a:solidFill>
            <a:srgbClr val="EDF2F8"/>
          </a:solidFill>
          <a:ln w="254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599" y="2489199"/>
            <a:ext cx="711199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233F"/>
                </a:solidFill>
                <a:latin typeface="Aptos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61599" y="3200400"/>
            <a:ext cx="711199" cy="177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85"/>
                </a:solidFill>
                <a:latin typeface="Aptos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8799" y="3708400"/>
            <a:ext cx="7111999" cy="1397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799" y="3835400"/>
            <a:ext cx="660399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10 values → even count → no single middle position. Average the two middle values (5th and 6th):
Median = (3 + 3) / 2 =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0999" y="3708400"/>
            <a:ext cx="3632199" cy="1397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0999" y="3708400"/>
            <a:ext cx="76199" cy="1397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4999" y="3835400"/>
            <a:ext cx="312419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26324B"/>
                </a:solidFill>
                <a:latin typeface="Aptos"/>
              </a:rPr>
              <a:t>The value 13 sits in the last position — it does not move the two middle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MEDIAN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Median: odd and even sample sizes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473199"/>
            <a:ext cx="5410199" cy="3809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473199"/>
            <a:ext cx="76199" cy="3809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599" y="1676400"/>
            <a:ext cx="48005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Odd — five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599" y="2159000"/>
            <a:ext cx="609599" cy="5588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5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0999" y="2159000"/>
            <a:ext cx="609599" cy="5588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9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38399" y="2159000"/>
            <a:ext cx="609599" cy="558800"/>
          </a:xfrm>
          <a:prstGeom prst="roundRect">
            <a:avLst/>
          </a:prstGeom>
          <a:solidFill>
            <a:srgbClr val="FDEBD3"/>
          </a:solidFill>
          <a:ln w="25400">
            <a:solidFill>
              <a:srgbClr val="E8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3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8871E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5799" y="2159000"/>
            <a:ext cx="609599" cy="5588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57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13199" y="2159000"/>
            <a:ext cx="609599" cy="5588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131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599" y="3022600"/>
            <a:ext cx="48005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Median =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599" y="3581400"/>
            <a:ext cx="4800599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The third value is the middle — take it directly.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2999" y="1473199"/>
            <a:ext cx="5410199" cy="3809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2999" y="1473199"/>
            <a:ext cx="76199" cy="3809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7799" y="1676400"/>
            <a:ext cx="48005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Even — four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27799" y="2159000"/>
            <a:ext cx="609599" cy="5588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77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199" y="2159000"/>
            <a:ext cx="609599" cy="558800"/>
          </a:xfrm>
          <a:prstGeom prst="roundRect">
            <a:avLst/>
          </a:prstGeom>
          <a:solidFill>
            <a:srgbClr val="FDEBD3"/>
          </a:solidFill>
          <a:ln w="25400">
            <a:solidFill>
              <a:srgbClr val="E8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8871E"/>
                </a:solidFill>
                <a:latin typeface="Aptos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2599" y="2159000"/>
            <a:ext cx="609599" cy="558800"/>
          </a:xfrm>
          <a:prstGeom prst="roundRect">
            <a:avLst/>
          </a:prstGeom>
          <a:solidFill>
            <a:srgbClr val="FDEBD3"/>
          </a:solidFill>
          <a:ln w="25400">
            <a:solidFill>
              <a:srgbClr val="E8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25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8871E"/>
                </a:solidFill>
                <a:latin typeface="Aptos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9999" y="2159000"/>
            <a:ext cx="609599" cy="5588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9999" y="2159000"/>
            <a:ext cx="60959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7799" y="3022600"/>
            <a:ext cx="48005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Median = (3 + 4) / 2 = 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7799" y="3581400"/>
            <a:ext cx="4800599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Average the two middle values (2nd and 3rd).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8799" y="5588000"/>
            <a:ext cx="11074399" cy="635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8799" y="5588000"/>
            <a:ext cx="76199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199" y="5664199"/>
            <a:ext cx="10540999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A median like 3.5 does not need to appear among the original observations — it marks the midpoint between the two central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What is the mode?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20800"/>
            <a:ext cx="11074399" cy="7111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20800"/>
            <a:ext cx="76199" cy="7111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397000"/>
            <a:ext cx="10540999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The mode is the most frequently occurring value — read it straight off the frequency table or the tallest bar.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799" y="2413000"/>
            <a:ext cx="2031999" cy="127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999" y="2565400"/>
            <a:ext cx="1625599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3022600"/>
            <a:ext cx="16255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26324B"/>
                </a:solidFill>
                <a:latin typeface="Aptos"/>
              </a:rPr>
              <a:t>occurs once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9399" y="2413000"/>
            <a:ext cx="2031999" cy="127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2599" y="2565400"/>
            <a:ext cx="1625599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2599" y="3022600"/>
            <a:ext cx="16255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26324B"/>
                </a:solidFill>
                <a:latin typeface="Aptos"/>
              </a:rPr>
              <a:t>occurs twice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9999" y="2413000"/>
            <a:ext cx="2031999" cy="1270000"/>
          </a:xfrm>
          <a:prstGeom prst="roundRect">
            <a:avLst/>
          </a:prstGeom>
          <a:solidFill>
            <a:srgbClr val="FD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9999" y="2413000"/>
            <a:ext cx="76199" cy="1270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3199" y="2565400"/>
            <a:ext cx="1625599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8871E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3199" y="3022600"/>
            <a:ext cx="16255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26324B"/>
                </a:solidFill>
                <a:latin typeface="Aptos"/>
              </a:rPr>
              <a:t>occurs 3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0599" y="2413000"/>
            <a:ext cx="2031999" cy="127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2565400"/>
            <a:ext cx="1625599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3022600"/>
            <a:ext cx="16255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26324B"/>
                </a:solidFill>
                <a:latin typeface="Aptos"/>
              </a:rPr>
              <a:t>occurs twice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199" y="2413000"/>
            <a:ext cx="2031999" cy="127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4399" y="2565400"/>
            <a:ext cx="1625599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233F"/>
                </a:solidFill>
                <a:latin typeface="Aptos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4399" y="3022600"/>
            <a:ext cx="16255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26324B"/>
                </a:solidFill>
                <a:latin typeface="Aptos"/>
              </a:rPr>
              <a:t>occurs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8799" y="4064000"/>
            <a:ext cx="6857999" cy="1143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8799" y="4064000"/>
            <a:ext cx="76199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199" y="4216400"/>
            <a:ext cx="6299199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Mode = 3 courses — highest frequency (3 times).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46999" y="4064000"/>
            <a:ext cx="3886199" cy="1143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0999" y="4165600"/>
            <a:ext cx="3378199" cy="939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6324B"/>
                </a:solidFill>
                <a:latin typeface="Aptos"/>
              </a:rPr>
              <a:t>A dataset can have more than one mode (a tie) or no unique mode (all values equally often).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Comparing the three answers — same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15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8799" y="1473199"/>
          <a:ext cx="7873997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279"/>
                <a:gridCol w="1259839"/>
                <a:gridCol w="4881879"/>
              </a:tblGrid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What it describes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Arithmetic average — uses all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9D8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Middle of the ordered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9D8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Most frequent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58799" y="4267199"/>
            <a:ext cx="11074399" cy="1650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799" y="4267199"/>
            <a:ext cx="76199" cy="1650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99" y="4419600"/>
            <a:ext cx="10540999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Why is the mean (4) higher than the median and mode (3)?The value 13 pulls the arithmetic average upward.The median stays at 3 — 13 only occupies the last position, leaving the two middle values unchanged.The mode stays at 3 — 13 appears only once.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Effect of an unusual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16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8799" y="1473199"/>
          <a:ext cx="6095996" cy="1904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39"/>
                <a:gridCol w="1341119"/>
                <a:gridCol w="1341119"/>
                <a:gridCol w="1341119"/>
              </a:tblGrid>
              <a:tr h="634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…, 5,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50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…, 5,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58799" y="3759199"/>
            <a:ext cx="60959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799" y="3759199"/>
            <a:ext cx="76199" cy="1904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99" y="3886200"/>
            <a:ext cx="5537199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Changing one observation from 5 → 13 raises the sum by 8. Across 10 students the mean rises by 8 / 10 = 0.8.
The median and mode do not change in this example.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1199" y="1473199"/>
            <a:ext cx="45719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61199" y="1473199"/>
            <a:ext cx="76199" cy="1904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0599" y="1600200"/>
            <a:ext cx="4013199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Key idea
The mean is sensitive to extreme values; the median is resistant.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1199" y="3759199"/>
            <a:ext cx="4571999" cy="1904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61199" y="3759199"/>
            <a:ext cx="76199" cy="1904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0599" y="3886200"/>
            <a:ext cx="4013199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Teaching caution
An unusual value is not automatically an error. Check it before excluding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CHOOSING A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When is the mean useful?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17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422399"/>
            <a:ext cx="5333999" cy="4368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422399"/>
            <a:ext cx="76199" cy="43688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600200"/>
            <a:ext cx="4775199" cy="4013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Use the when when:The attribute is numerical.Every value should contribute to the summary.Extreme values would not make the average misleading for your purpose.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3799" y="1422399"/>
            <a:ext cx="5359399" cy="436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3799" y="1422399"/>
            <a:ext cx="76199" cy="43688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199" y="1600200"/>
            <a:ext cx="4800599" cy="4013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Example — average exam score
Scores: 60, 65, 70, 75, 80
Mean = 350 / 5 = 70
Evenly spread scores — 70 reasonably describes the centre. Still inspect the distribution: two datasets can share a mean yet differ widely.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CHOOSING A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When is the median useful?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18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422399"/>
            <a:ext cx="5333999" cy="4368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422399"/>
            <a:ext cx="76199" cy="436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600200"/>
            <a:ext cx="4775199" cy="4013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Use the when when:A numerical distribution contains unusually large or small values.You want the middle observation.You are summarising ordered categories, where appropriate.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3799" y="1422399"/>
            <a:ext cx="5359399" cy="436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3799" y="1422399"/>
            <a:ext cx="76199" cy="436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199" y="1600200"/>
            <a:ext cx="4800599" cy="4013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Example — monthly incomes (LKR)
50,000 · 55,000 · 60,000 · 65,000 · 500,000
Median = LKR 60,000
One income is far higher than the rest. The mean would be LKR 146,000 — describing no one near the middle. Hence median income is preferred for skewed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CHOOSING A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When is the mode useful?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19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422399"/>
            <a:ext cx="5333999" cy="4368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422399"/>
            <a:ext cx="76199" cy="43688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600200"/>
            <a:ext cx="4775199" cy="4013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Use the mode when:You need the most common value or category.Data is categorical — nominal or ordinal.Platform names have no meaningful mean or median — but a most-common platform exists.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3799" y="1778000"/>
          <a:ext cx="5359398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5639"/>
                <a:gridCol w="2143759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Moodle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Google Classroom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73799" y="4267199"/>
            <a:ext cx="5359399" cy="1143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3799" y="4267199"/>
            <a:ext cx="76199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199" y="4445000"/>
            <a:ext cx="4800599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Mode: Moodle — the most common category (nominal data).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CHOOSING A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Choosing a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20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8799" y="1473199"/>
          <a:ext cx="11074397" cy="3174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1247"/>
                <a:gridCol w="2657855"/>
                <a:gridCol w="3765295"/>
              </a:tblGrid>
              <a:tr h="634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Data or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Useful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Typical exam score, no strong outliers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Uses all numerical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Typical income with a very high outlier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9D8F"/>
                          </a:solidFill>
                          <a:latin typeface="Aptos"/>
                        </a:rPr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Less affected by extremes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Most popular degree programme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71E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Identifies the most common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5003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Middle satisfaction level (ordered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9D8F"/>
                          </a:solidFill>
                          <a:latin typeface="Aptos"/>
                        </a:rPr>
                        <a:t>Median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Uses the category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58799" y="5029200"/>
            <a:ext cx="11074399" cy="1016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799" y="5029200"/>
            <a:ext cx="76199" cy="10160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99" y="5130800"/>
            <a:ext cx="10540999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There is no universally best measure. Start with the attribute type and the question. Nominal → mode. Ordered → median category possible. Numerical → compare mean and median, especially when skewed or with unusual values.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Common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21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97000"/>
            <a:ext cx="11074399" cy="8636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97000"/>
            <a:ext cx="76199" cy="8636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7399" y="1638299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399" y="1638299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199" y="1498600"/>
            <a:ext cx="10058399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Calculating a mean for category codes or student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799" y="2438400"/>
            <a:ext cx="11074399" cy="8636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8799" y="2438400"/>
            <a:ext cx="76199" cy="8636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7399" y="26797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399" y="26797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199" y="2540000"/>
            <a:ext cx="10058399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Finding the median before sorting the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799" y="3479800"/>
            <a:ext cx="11074399" cy="8636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799" y="3479800"/>
            <a:ext cx="76199" cy="8636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7399" y="37211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399" y="37211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6199" y="3581400"/>
            <a:ext cx="10058399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Dividing Σfx by the number of distinct values instead of Σf (here: 10 students, not 6 course counts).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799" y="4521199"/>
            <a:ext cx="11074399" cy="8636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99" y="4521199"/>
            <a:ext cx="76199" cy="8636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7399" y="4762500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399" y="47625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199" y="4622800"/>
            <a:ext cx="10058399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Calling an unusual observation an error without checking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8799" y="5562600"/>
            <a:ext cx="11074399" cy="8636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8799" y="5562600"/>
            <a:ext cx="76199" cy="8636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7399" y="5803899"/>
            <a:ext cx="380999" cy="380999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399" y="5803899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199" y="5664199"/>
            <a:ext cx="10058399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Reporting a “typical” value without examining the distribution.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22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71600"/>
            <a:ext cx="11074399" cy="10667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71600"/>
            <a:ext cx="76199" cy="10667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498600"/>
            <a:ext cx="10540999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Library visits by 7 students:
0,  1,  1,  2,  2,  2,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799" y="2743200"/>
            <a:ext cx="7111999" cy="3301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8799" y="2743200"/>
            <a:ext cx="76199" cy="3301999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199" y="2921000"/>
            <a:ext cx="6553199" cy="294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TasksCreate a frequency table.Calculate the mean, median and mode.Which value would you report as “typical”? Explain.What would you investigate about the value 13?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999" y="2743200"/>
            <a:ext cx="3632199" cy="33019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999" y="2743200"/>
            <a:ext cx="76199" cy="33019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399" y="2921000"/>
            <a:ext cx="3073399" cy="294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How to workA few minutes individuallyCompare in pairsShow the sum used for the mean, not just the answer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Activity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23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8799" y="1473199"/>
          <a:ext cx="4571998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9"/>
                <a:gridCol w="2285999"/>
              </a:tblGrid>
              <a:tr h="4868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4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83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324B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>
                    <a:solidFill>
                      <a:srgbClr val="E2EA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587999" y="1473199"/>
            <a:ext cx="6045199" cy="12192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7999" y="1473199"/>
            <a:ext cx="76199" cy="12192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7399" y="1574800"/>
            <a:ext cx="5486399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9" b="0">
                <a:solidFill>
                  <a:srgbClr val="26324B"/>
                </a:solidFill>
                <a:latin typeface="Aptos"/>
              </a:rPr>
              <a:t>Mean = (0+1+1+2+2+2+13) / 7 = 21 / 7 = 3
The value 13 raises the mean.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7999" y="2946399"/>
            <a:ext cx="6045199" cy="1447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87999" y="2946399"/>
            <a:ext cx="76199" cy="144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7399" y="3098800"/>
            <a:ext cx="5486399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Median = 2 (middle, 4th value)　Mode = 2 (most frequent)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799" y="4775200"/>
            <a:ext cx="11074399" cy="12192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8799" y="4775200"/>
            <a:ext cx="76199" cy="12192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99" y="4876800"/>
            <a:ext cx="10540999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Typical student here: 2 visits — median and mode agree; the mean (3) is pulled up by 13. Before removing 13, check whether it is valid — e.g. a frequent library user — not automatically an error.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24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3208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3208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7399" y="1536699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399" y="1536699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199" y="1422399"/>
            <a:ext cx="100583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Count first: a frequency distribution shows how often values occur.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799" y="23368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8799" y="23368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7399" y="25527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399" y="25527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199" y="2438400"/>
            <a:ext cx="100583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Mean: uses every numerical value and responds to extremes.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799" y="33528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799" y="33528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7399" y="35687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399" y="35687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6199" y="3454400"/>
            <a:ext cx="100583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Median: identifies the middle after sorting — resistant to outliers.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799" y="43688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99" y="43688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7399" y="45847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399" y="45847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199" y="4470400"/>
            <a:ext cx="100583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Mode: identifies the most frequent value or category.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8799" y="5384800"/>
            <a:ext cx="11074399" cy="8128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8799" y="53848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7399" y="5600700"/>
            <a:ext cx="380999" cy="380999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399" y="5600700"/>
            <a:ext cx="380999" cy="380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199" y="5486400"/>
            <a:ext cx="10058399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99" b="0">
                <a:solidFill>
                  <a:srgbClr val="26324B"/>
                </a:solidFill>
                <a:latin typeface="Aptos"/>
              </a:rPr>
              <a:t>Choose deliberately: consider attribute type, distribution and question.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5200"/>
          </a:xfrm>
          <a:prstGeom prst="rect">
            <a:avLst/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799" y="127000"/>
            <a:ext cx="8889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9" b="1">
                <a:solidFill>
                  <a:srgbClr val="F5A94B"/>
                </a:solidFill>
                <a:latin typeface="Aptos"/>
              </a:rPr>
              <a:t>LECTURE 03 ·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355599"/>
            <a:ext cx="11074399" cy="48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Reading materials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5200"/>
            <a:ext cx="12191999" cy="381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799" y="6438899"/>
            <a:ext cx="11074399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799" y="6515100"/>
            <a:ext cx="7873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A6B85"/>
                </a:solidFill>
                <a:latin typeface="Aptos"/>
              </a:rPr>
              <a:t>Lecture 03 — Basic Statistical Description and Central Tendency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199" y="6515100"/>
            <a:ext cx="10159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5A6B85"/>
                </a:solidFill>
                <a:latin typeface="Aptos"/>
              </a:rPr>
              <a:t>25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799" y="1422399"/>
            <a:ext cx="11074399" cy="81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799" y="1422399"/>
            <a:ext cx="76199" cy="8128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" y="1536699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16233F"/>
                </a:solidFill>
                <a:latin typeface="Aptos"/>
              </a:rPr>
              <a:t>Han, J., Kamber, M. &amp; Pei, J. (2011)  ·  Data Mining: Concepts and Techniques, 3rd ed., Morgan Kaufmann.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99" y="18415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B85"/>
                </a:solidFill>
                <a:latin typeface="Aptos"/>
              </a:rPr>
              <a:t>Foundation for data summarisation in mining contexts.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799" y="2387600"/>
            <a:ext cx="11074399" cy="81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8799" y="23876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99" y="25019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16233F"/>
                </a:solidFill>
                <a:latin typeface="Aptos"/>
              </a:rPr>
              <a:t>Telea, A. C. (2014)  ·  Data Visualization: Principles and Practice, 2nd ed., CRC Press.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99" y="28067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B85"/>
                </a:solidFill>
                <a:latin typeface="Aptos"/>
              </a:rPr>
              <a:t>Connects numerical summaries with their visual displays.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799" y="3352800"/>
            <a:ext cx="11074399" cy="81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8799" y="3352800"/>
            <a:ext cx="76199" cy="8128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99" y="34671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16233F"/>
                </a:solidFill>
                <a:latin typeface="Aptos"/>
              </a:rPr>
              <a:t>Myatt, G. J. &amp; Johnson, W. P. (2009)  ·  Making Sense of Data II, John Wiley &amp; Sons.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99" y="37719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B85"/>
                </a:solidFill>
                <a:latin typeface="Aptos"/>
              </a:rPr>
              <a:t>A practical guide to exploring data before modelling.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8799" y="4318000"/>
            <a:ext cx="11074399" cy="81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8799" y="4318000"/>
            <a:ext cx="76199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199" y="44323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9" b="0">
                <a:solidFill>
                  <a:srgbClr val="16233F"/>
                </a:solidFill>
                <a:latin typeface="Aptos"/>
              </a:rPr>
              <a:t>Evergreen, S. D. H. (2017)  ·  Effective Data Visualization, SAGE Publications.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99" y="4737100"/>
            <a:ext cx="1054099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B85"/>
                </a:solidFill>
                <a:latin typeface="Aptos"/>
              </a:rPr>
              <a:t>Principles for presenting statistical results clearly.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8799" y="5384800"/>
            <a:ext cx="11074399" cy="711199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799" y="5384800"/>
            <a:ext cx="76199" cy="71119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99" y="5461000"/>
            <a:ext cx="10540999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9" b="0">
                <a:solidFill>
                  <a:srgbClr val="26324B"/>
                </a:solidFill>
                <a:latin typeface="Aptos"/>
              </a:rPr>
              <a:t>Next lecture: measures of spread — how far observations vary around the centre. As you read, ask what each summary reveals and what variation it leaves unseen.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